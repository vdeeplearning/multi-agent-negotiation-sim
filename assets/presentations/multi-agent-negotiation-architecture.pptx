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c526bb2e034f21" /><Relationship Type="http://schemas.openxmlformats.org/officeDocument/2006/relationships/extended-properties" Target="/docProps/app.xml" Id="R863ebee7a68641f1" /><Relationship Type="http://schemas.openxmlformats.org/officeDocument/2006/relationships/officeDocument" Target="/ppt/presentation.xml" Id="R70512e94053a49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c1c3315852425a"/>
  </p:sldMasterIdLst>
  <p:notesMasterIdLst>
    <p:notesMasterId xmlns:r="http://schemas.openxmlformats.org/officeDocument/2006/relationships" r:id="Rac4e3366402644c7"/>
  </p:notesMasterIdLst>
  <p:sldIdLst>
    <p:sldId xmlns:r="http://schemas.openxmlformats.org/officeDocument/2006/relationships" id="256" r:id="R9d415fc7cdbf4596"/>
    <p:sldId xmlns:r="http://schemas.openxmlformats.org/officeDocument/2006/relationships" id="257" r:id="R00dc8f0d436747b1"/>
    <p:sldId xmlns:r="http://schemas.openxmlformats.org/officeDocument/2006/relationships" id="258" r:id="R6f5fd5621d244eb8"/>
    <p:sldId xmlns:r="http://schemas.openxmlformats.org/officeDocument/2006/relationships" id="259" r:id="R3375957418714d7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6a55815d7d4d42" /><Relationship Type="http://schemas.openxmlformats.org/officeDocument/2006/relationships/slideMaster" Target="/ppt/slideMasters/slideMaster1.xml" Id="R33c1c3315852425a" /><Relationship Type="http://schemas.openxmlformats.org/officeDocument/2006/relationships/notesMaster" Target="/ppt/notesMasters/notesMaster1.xml" Id="Rac4e3366402644c7" /><Relationship Type="http://schemas.openxmlformats.org/officeDocument/2006/relationships/presProps" Target="/ppt/presProps.xml" Id="R3081e34ffe9f4582" /><Relationship Type="http://schemas.openxmlformats.org/officeDocument/2006/relationships/viewProps" Target="/ppt/viewProps.xml" Id="Rdfbbe377b8f24406" /><Relationship Type="http://schemas.openxmlformats.org/officeDocument/2006/relationships/tableStyles" Target="/ppt/tableStyles.xml" Id="Reb746a53f7fb4bd2" /><Relationship Type="http://schemas.openxmlformats.org/officeDocument/2006/relationships/slide" Target="/ppt/slides/slide1.xml" Id="R9d415fc7cdbf4596" /><Relationship Type="http://schemas.openxmlformats.org/officeDocument/2006/relationships/slide" Target="/ppt/slides/slide2.xml" Id="R00dc8f0d436747b1" /><Relationship Type="http://schemas.openxmlformats.org/officeDocument/2006/relationships/slide" Target="/ppt/slides/slide3.xml" Id="R6f5fd5621d244eb8" /><Relationship Type="http://schemas.openxmlformats.org/officeDocument/2006/relationships/slide" Target="/ppt/slides/slide4.xml" Id="R3375957418714d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2b08b856dc46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d260325eb647f7" /><Relationship Type="http://schemas.openxmlformats.org/officeDocument/2006/relationships/notesMaster" Target="/ppt/notesMasters/notesMaster1.xml" Id="Rf70fdc64b5f745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fd130827334584" /><Relationship Type="http://schemas.openxmlformats.org/officeDocument/2006/relationships/notesMaster" Target="/ppt/notesMasters/notesMaster1.xml" Id="R9a04c811039e40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7545becda14339" /><Relationship Type="http://schemas.openxmlformats.org/officeDocument/2006/relationships/notesMaster" Target="/ppt/notesMasters/notesMaster1.xml" Id="Rd470853e40234b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355d297b0940a4" /><Relationship Type="http://schemas.openxmlformats.org/officeDocument/2006/relationships/notesMaster" Target="/ppt/notesMasters/notesMaster1.xml" Id="R47ac2b084f9c44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75f6badbeb4f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b83f33025c413a" /><Relationship Type="http://schemas.openxmlformats.org/officeDocument/2006/relationships/slideLayout" Target="/ppt/slideLayouts/slideLayout1.xml" Id="Rc2fcf5e4d42645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fcf5e4d42645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16bffd0fd42c0" /><Relationship Type="http://schemas.openxmlformats.org/officeDocument/2006/relationships/notesSlide" Target="/ppt/notesSlides/notesSlide1.xml" Id="Rd0f9bbf7092042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afa503cbe4c71" /><Relationship Type="http://schemas.openxmlformats.org/officeDocument/2006/relationships/notesSlide" Target="/ppt/notesSlides/notesSlide2.xml" Id="R78db5300b69d4c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07fba087a4a93" /><Relationship Type="http://schemas.openxmlformats.org/officeDocument/2006/relationships/notesSlide" Target="/ppt/notesSlides/notesSlide3.xml" Id="R3107d293b5164f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b592480ce4a88" /><Relationship Type="http://schemas.openxmlformats.org/officeDocument/2006/relationships/notesSlide" Target="/ppt/notesSlides/notesSlide4.xml" Id="R73551039de00438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54E70A-2D57-4E12-858E-41123AAB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3F95F-A4A7-4BCD-8921-63B43FF5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WORKFLOW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497F2-3014-4F4D-B50F-6A4B6DC3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Bounded multi-agent negotiation with deterministic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BD301-C831-4063-A9BB-29C58087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67A"/>
                </a:solidFill>
                <a:latin typeface="Aptos"/>
                <a:ea typeface="Aptos"/>
                <a:cs typeface="Aptos"/>
              </a:rPr>
              <a:t>The LLM proposes. The backend validates, scores, logs, routes, and terminates.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3FB24-52BE-4479-B42B-9BED1ED0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857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15E59"/>
          </a:solidFill>
          <a:ln xmlns:a="http://schemas.openxmlformats.org/drawingml/2006/main" w="9525">
            <a:solidFill>
              <a:srgbClr val="115E5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Interview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99929-1D8E-4806-867D-2150DA12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1714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React GUI</a:t>
            </a:r>
          </a:p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Settings + 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6EF55-EB9D-4591-A96E-8943D484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33700"/>
            <a:ext cx="1714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FastAPI Routes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/api/negotiations/start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963AC-4D67-4D20-99AC-4BAE860C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0980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LangGraph StateGraph</a:t>
            </a:r>
          </a:p>
          <a:p xmlns:a="http://schemas.openxmlformats.org/drawingml/2006/main">
            <a:pPr algn="ctr">
              <a:defRPr sz="1200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preflight -&gt; agent_turn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B5D63-3C38-4A62-B8CD-2A0662AC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85900"/>
            <a:ext cx="1666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Buyer Agent</a:t>
            </a:r>
          </a:p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private config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6DBB5-F4EE-4D38-A9A3-A29C0846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0350"/>
            <a:ext cx="1666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Seller Agent</a:t>
            </a:r>
          </a:p>
          <a:p xmlns:a="http://schemas.openxmlformats.org/drawingml/2006/main">
            <a:pPr algn="ct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private config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F62C7-11D2-4B84-A9CD-404B4D0A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1809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Provider Adapter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Mock / OpenAI / Anthropic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6F8C1-17CC-4670-B3FB-C5EDE03F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171700"/>
            <a:ext cx="13811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EFCE8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54D0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54D0E"/>
                </a:solidFill>
                <a:latin typeface="Aptos"/>
                <a:ea typeface="Aptos"/>
                <a:cs typeface="Aptos"/>
              </a:rPr>
              <a:t>Model / Mock</a:t>
            </a:r>
          </a:p>
          <a:p xmlns:a="http://schemas.openxmlformats.org/drawingml/2006/main">
            <a:pPr algn="ctr">
              <a:defRPr sz="1125" b="1">
                <a:solidFill>
                  <a:srgbClr val="854D0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54D0E"/>
                </a:solidFill>
                <a:latin typeface="Aptos"/>
                <a:ea typeface="Aptos"/>
                <a:cs typeface="Aptos"/>
              </a:rPr>
              <a:t>AgentResponse 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77963-39B5-4B09-81EE-9DCEDAEF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00550"/>
            <a:ext cx="20764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Evaluator</a:t>
            </a:r>
          </a:p>
          <a:p xmlns:a="http://schemas.openxmlformats.org/drawingml/2006/main">
            <a:pPr algn="ctr"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validity + utility + termination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81C82-F0A8-4174-B03D-15FAC9AA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00550"/>
            <a:ext cx="1524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Trace Logger</a:t>
            </a:r>
          </a:p>
          <a:p xmlns:a="http://schemas.openxmlformats.org/drawingml/2006/main">
            <a:pPr algn="ctr">
              <a:defRPr sz="112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observability events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2F56B-664D-481E-8F52-D145D48A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00550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In-Memory Store</a:t>
            </a:r>
          </a:p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run state</a:t>
            </a:r>
          </a:p>
        </p:txBody>
      </p:sp>
      <p:cxnSp>
        <p:nvCxnSpPr>
          <p:cNvPr id="16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352550" y="2400300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arrow" w="med" len="med"/>
          </a:ln>
        </p:spPr>
      </p:cxnSp>
      <p:cxnSp>
        <p:nvCxnSpPr>
          <p:cNvPr id="1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09800" y="2638425"/>
            <a:ext cx="800100" cy="657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1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010150" y="1828800"/>
            <a:ext cx="800100" cy="809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563EB"/>
            </a:solidFill>
            <a:prstDash val="solid"/>
            <a:headEnd type="arrow" w="med" len="med"/>
          </a:ln>
        </p:spPr>
      </p:cxnSp>
      <p:cxnSp>
        <p:nvCxnSpPr>
          <p:cNvPr id="19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10150" y="2638425"/>
            <a:ext cx="800100" cy="504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45309"/>
            </a:solidFill>
            <a:prstDash val="solid"/>
            <a:headEnd type="arrow" w="med" len="med"/>
          </a:ln>
        </p:spPr>
      </p:cxnSp>
      <p:cxnSp>
        <p:nvCxnSpPr>
          <p:cNvPr id="20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477125" y="1828800"/>
            <a:ext cx="619125" cy="76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563EB"/>
            </a:solidFill>
            <a:prstDash val="solid"/>
            <a:headEnd type="arrow" w="med" len="med"/>
          </a:ln>
        </p:spPr>
      </p:cxnSp>
      <p:cxnSp>
        <p:nvCxnSpPr>
          <p:cNvPr id="2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477125" y="2590800"/>
            <a:ext cx="619125" cy="552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45309"/>
            </a:solidFill>
            <a:prstDash val="solid"/>
            <a:headEnd type="arrow" w="med" len="med"/>
          </a:ln>
        </p:spPr>
      </p:cxnSp>
      <p:cxnSp>
        <p:nvCxnSpPr>
          <p:cNvPr id="2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906000" y="25908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9E0B"/>
            </a:solidFill>
            <a:prstDash val="solid"/>
            <a:headEnd type="arrow" w="med" len="med"/>
          </a:ln>
        </p:spPr>
      </p:cxnSp>
      <p:cxnSp>
        <p:nvCxnSpPr>
          <p:cNvPr id="23" name=""/>
          <p:cNvCxnSpPr>
            <a:stCxn xmlns:a="http://schemas.openxmlformats.org/drawingml/2006/main" id="12" idx="2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H="1">
            <a:off x="9001125" y="3009900"/>
            <a:ext cx="2071688" cy="2571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F59E0B"/>
            </a:solidFill>
            <a:prstDash val="solid"/>
            <a:headEnd type="arrow" w="med" len="med"/>
          </a:ln>
        </p:spPr>
      </p:cxnSp>
      <p:cxnSp>
        <p:nvCxnSpPr>
          <p:cNvPr id="24" name=""/>
          <p:cNvCxnSpPr>
            <a:stCxn xmlns:a="http://schemas.openxmlformats.org/drawingml/2006/main" id="8" idx="2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010025" y="3067050"/>
            <a:ext cx="1895475" cy="1695450"/>
          </a:xfrm>
          <a:prstGeom xmlns:a="http://schemas.openxmlformats.org/drawingml/2006/main" prst="bentConnector5">
            <a:avLst>
              <a:gd name="adj1" fmla="val 0"/>
              <a:gd name="adj2" fmla="val 13483"/>
              <a:gd name="adj3" fmla="val 87940"/>
            </a:avLst>
          </a:prstGeom>
          <a:ln xmlns:a="http://schemas.openxmlformats.org/drawingml/2006/main" w="19050">
            <a:solidFill>
              <a:srgbClr val="334155"/>
            </a:solidFill>
            <a:prstDash val="solid"/>
            <a:headEnd type="arrow" w="med" len="med"/>
          </a:ln>
        </p:spPr>
      </p:cxnSp>
      <p:cxnSp>
        <p:nvCxnSpPr>
          <p:cNvPr id="25" name=""/>
          <p:cNvCxnSpPr>
            <a:stCxn xmlns:a="http://schemas.openxmlformats.org/drawingml/2006/main" id="13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 flipV="1">
            <a:off x="4010025" y="3067050"/>
            <a:ext cx="2933700" cy="1333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34155"/>
            </a:solidFill>
            <a:prstDash val="solid"/>
            <a:headEnd type="arrow" w="med" len="med"/>
          </a:ln>
        </p:spPr>
      </p:cxnSp>
      <p:cxnSp>
        <p:nvCxnSpPr>
          <p:cNvPr id="26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981950" y="47625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28D9"/>
            </a:solidFill>
            <a:prstDash val="solid"/>
            <a:headEnd type="arrow" w="med" len="med"/>
          </a:ln>
        </p:spPr>
      </p:cxnSp>
      <p:cxnSp>
        <p:nvCxnSpPr>
          <p:cNvPr id="27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944100" y="47625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803D"/>
            </a:solidFill>
            <a:prstDash val="solid"/>
            <a:head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D54ED7-734F-40CD-93F4-0812C2EC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4324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B437CB-0520-41D5-B040-4909A794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398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Interview answer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075A73-AD45-4588-B211-4BCBD839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3981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Two role agents share one selected provider/model per run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Private configs never enter the public transcript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Structured AgentResponse is the boundary between LLM behavior and deterministic control</a:t>
            </a:r>
          </a:p>
        </p:txBody>
      </p:sp>
    </p:spTree>
    <p:extLst>
      <p:ext uri="{BB962C8B-B14F-4D97-AF65-F5344CB8AC3E}">
        <p14:creationId xmlns:p14="http://schemas.microsoft.com/office/powerpoint/2010/main" val="1250574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220951-359A-4C4B-AB28-93C9E011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CD649-C236-4F3F-9DD6-44435C60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LANGGRAPH USAGE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56461-8F92-4DD9-8E40-C8FA72E1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StateGraph makes the control loop explicit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F8CA9-64AE-4BBE-94D8-8FC4895A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67A"/>
                </a:solidFill>
                <a:latin typeface="Aptos"/>
                <a:ea typeface="Aptos"/>
                <a:cs typeface="Aptos"/>
              </a:rPr>
              <a:t>The graph is intentionally small: one preflight node, one repeated agent-turn node, conditional exit.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14AA5-B8F2-4FDE-8616-536914DE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857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15E59"/>
          </a:solidFill>
          <a:ln xmlns:a="http://schemas.openxmlformats.org/drawingml/2006/main" w="9525">
            <a:solidFill>
              <a:srgbClr val="115E5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Interview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BFF8B-D24A-4183-AE42-ED349E92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9048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CE3FD-959B-4B3A-827A-C23E08B7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1714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preflight</a:t>
            </a:r>
          </a:p>
          <a:p xmlns:a="http://schemas.openxmlformats.org/drawingml/2006/main">
            <a:pPr algn="ctr">
              <a:defRPr sz="1125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validate feasible config</a:t>
            </a:r>
          </a:p>
          <a:p xmlns:a="http://schemas.openxmlformats.org/drawingml/2006/main">
            <a:pPr algn="ctr">
              <a:defRPr sz="1125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log configuration warnings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2433F-3EF9-494C-9483-EC342A92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76450"/>
            <a:ext cx="233362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agent_turn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 choose actor by round parity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 call provider through agent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 validate AgentResponse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4 score offer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 evaluate termination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61A4E-2314-4947-9D12-BCEC76D3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81250"/>
            <a:ext cx="17526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_route_next</a:t>
            </a:r>
          </a:p>
          <a:p xmlns:a="http://schemas.openxmlformats.org/drawingml/2006/main">
            <a:pPr algn="ctr">
              <a:defRPr sz="11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status == running?</a:t>
            </a:r>
          </a:p>
          <a:p xmlns:a="http://schemas.openxmlformats.org/drawingml/2006/main">
            <a:pPr algn="ctr">
              <a:defRPr sz="11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continue or 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B1EBA-C243-4AFC-AB85-78B505E7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714625"/>
            <a:ext cx="9048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END</a:t>
            </a:r>
          </a:p>
        </p:txBody>
      </p:sp>
      <p:cxnSp>
        <p:nvCxnSpPr>
          <p:cNvPr id="1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1571625" y="2952750"/>
            <a:ext cx="619125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1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905250" y="2952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arrow" w="med" len="med"/>
          </a:ln>
        </p:spPr>
      </p:cxnSp>
      <p:cxnSp>
        <p:nvCxnSpPr>
          <p:cNvPr id="1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96125" y="2952750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  <a:headEnd type="arrow" w="med" len="med"/>
          </a:ln>
        </p:spPr>
      </p:cxnSp>
      <p:cxnSp>
        <p:nvCxnSpPr>
          <p:cNvPr id="14" name=""/>
          <p:cNvCxnSpPr>
            <a:stCxn xmlns:a="http://schemas.openxmlformats.org/drawingml/2006/main" id="9" idx="2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>
            <a:off x="5929313" y="3524250"/>
            <a:ext cx="2928938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45309"/>
            </a:solidFill>
            <a:prstDash val="solid"/>
            <a:headEnd type="arrow" w="med" len="med"/>
          </a:ln>
        </p:spPr>
      </p:cxnSp>
      <p:cxnSp>
        <p:nvCxnSpPr>
          <p:cNvPr id="1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734550" y="2952750"/>
            <a:ext cx="74295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34155"/>
            </a:solidFill>
            <a:prstDash val="solid"/>
            <a:head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CAA61-B667-4529-8A3A-274CA8BC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00500"/>
            <a:ext cx="1219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running -&gt; loop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598D4-20B0-4FD9-820B-8EB33414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71875"/>
            <a:ext cx="1219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terminal -&gt; 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E0B706-20E3-490D-A14F-90918F4C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63A8CA-ECAB-4125-9420-5A60C8D9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Why LangGraph?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A75F18-E01A-4FF4-9A8C-69D695CF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2895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A visible state machine instead of hidden imperative control flow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Central place for state, guidance, and terminal routing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Easy to extend with human review, retries, or persistence nodes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9AC0F-D417-4E22-AA9F-2716BB69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005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6498C1-4552-44B9-AE47-79E6FC58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339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State carried through the graph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F988CE-DA25-4AA8-9BB8-1B07698F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19650"/>
            <a:ext cx="2895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NegotiationState: transcript, latest_offer, utilities, trace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evaluator_guidance: recommendation passed into the next agent turn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status: running, accepted, failed, deadlocked, walked_away, max_rounds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A8C23E-0A55-443C-BB55-0D204CCC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005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F036A9-9DD1-4FD6-B311-586BD1DA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3390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Boundary of autonomy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17C11B-E032-454D-BDE4-1AAAFFE5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19650"/>
            <a:ext cx="2800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Agents can propose or accept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Evaluator decides whether the outcome is valid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Trace records every state transition checkpoint</a:t>
            </a:r>
          </a:p>
        </p:txBody>
      </p:sp>
    </p:spTree>
    <p:extLst>
      <p:ext uri="{BB962C8B-B14F-4D97-AF65-F5344CB8AC3E}">
        <p14:creationId xmlns:p14="http://schemas.microsoft.com/office/powerpoint/2010/main" val="9911292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D4D6D1-7C3E-4389-B452-6F7B806B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8DD68-106B-48FE-9FB6-5BCF9C10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PROVIDER AND TOOL-CALL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0B70C-4162-4787-9308-207036A5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Provider API calls, not arbitrary agent tools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24A16-DCCF-4CB6-9C2B-A6FB874B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67A"/>
                </a:solidFill>
                <a:latin typeface="Aptos"/>
                <a:ea typeface="Aptos"/>
                <a:cs typeface="Aptos"/>
              </a:rPr>
              <a:t>Agents call one adapter method; the adapter normalizes Mock, OpenAI, and Anthropic into AgentResponse.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3AC70-C838-4184-AF34-953ECAA0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857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15E59"/>
          </a:solidFill>
          <a:ln xmlns:a="http://schemas.openxmlformats.org/drawingml/2006/main" w="9525">
            <a:solidFill>
              <a:srgbClr val="115E5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Interview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C979F-1FA4-4D52-AD01-714EBC2E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1762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Buyer/Seller Agent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builds payload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EE07F-006A-49AE-A9F2-B36CD8BE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19250"/>
            <a:ext cx="20764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Payload</a:t>
            </a:r>
          </a:p>
          <a:p xmlns:a="http://schemas.openxmlformats.org/drawingml/2006/main">
            <a:pPr algn="ctr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role</a:t>
            </a:r>
          </a:p>
          <a:p xmlns:a="http://schemas.openxmlformats.org/drawingml/2006/main">
            <a:pPr algn="ctr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private_config</a:t>
            </a:r>
          </a:p>
          <a:p xmlns:a="http://schemas.openxmlformats.org/drawingml/2006/main">
            <a:pPr algn="ctr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public_history</a:t>
            </a:r>
          </a:p>
          <a:p xmlns:a="http://schemas.openxmlformats.org/drawingml/2006/main">
            <a:pPr algn="ctr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latest_offer</a:t>
            </a:r>
          </a:p>
          <a:p xmlns:a="http://schemas.openxmlformats.org/drawingml/2006/main">
            <a:pPr algn="ctr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system_constraints</a:t>
            </a:r>
          </a:p>
          <a:p xmlns:a="http://schemas.openxmlformats.org/drawingml/2006/main">
            <a:pPr algn="ctr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evaluator_guidance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4DD03-9DA3-4EE3-808D-42DC5FF8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8595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BaseLLMProvider</a:t>
            </a:r>
          </a:p>
          <a:p xmlns:a="http://schemas.openxmlformats.org/drawingml/2006/main">
            <a:pPr algn="ctr">
              <a:defRPr sz="1125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complete_agent_turn()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5DB14-7567-495E-8D25-586C790C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181100"/>
            <a:ext cx="2571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OpenAIProvider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POST /v1/responses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strict JSON schema format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AFEBF-9597-491F-AA05-4FFC772D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33600"/>
            <a:ext cx="2571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AnthropicProvider</a:t>
            </a:r>
          </a:p>
          <a:p xmlns:a="http://schemas.openxmlformats.org/drawingml/2006/main">
            <a:pPr algn="ctr">
              <a:defRPr sz="1050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POST /v1/messages</a:t>
            </a:r>
          </a:p>
          <a:p xmlns:a="http://schemas.openxmlformats.org/drawingml/2006/main">
            <a:pPr algn="ctr">
              <a:defRPr sz="1050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prompted JSON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7B2DC-13A2-44C0-9280-A3384804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86100"/>
            <a:ext cx="2571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MockProvider</a:t>
            </a:r>
          </a:p>
          <a:p xmlns:a="http://schemas.openxmlformats.org/drawingml/2006/main">
            <a:pPr algn="ctr">
              <a:defRPr sz="10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local deterministic response</a:t>
            </a:r>
          </a:p>
          <a:p xmlns:a="http://schemas.openxmlformats.org/drawingml/2006/main">
            <a:pPr algn="ctr">
              <a:defRPr sz="10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failure-mode injection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FD125-C599-4246-8F0D-69BFB061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305300"/>
            <a:ext cx="21717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EFCE8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54D0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54D0E"/>
                </a:solidFill>
                <a:latin typeface="Aptos"/>
                <a:ea typeface="Aptos"/>
                <a:cs typeface="Aptos"/>
              </a:rPr>
              <a:t>Pydantic validation</a:t>
            </a:r>
          </a:p>
          <a:p xmlns:a="http://schemas.openxmlformats.org/drawingml/2006/main">
            <a:pPr algn="ctr">
              <a:defRPr sz="1125" b="1">
                <a:solidFill>
                  <a:srgbClr val="854D0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54D0E"/>
                </a:solidFill>
                <a:latin typeface="Aptos"/>
                <a:ea typeface="Aptos"/>
                <a:cs typeface="Aptos"/>
              </a:rPr>
              <a:t>AgentResponse + Offer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46505-DB45-45DB-B32C-BF2C6333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05300"/>
            <a:ext cx="2571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Evaluator</a:t>
            </a:r>
          </a:p>
          <a:p xmlns:a="http://schemas.openxmlformats.org/drawingml/2006/main">
            <a:pPr algn="ctr">
              <a:defRPr sz="105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validity, utility, recommendation,</a:t>
            </a:r>
          </a:p>
          <a:p xmlns:a="http://schemas.openxmlformats.org/drawingml/2006/main">
            <a:pPr algn="ctr">
              <a:defRPr sz="105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termination</a:t>
            </a:r>
          </a:p>
        </p:txBody>
      </p:sp>
      <p:cxnSp>
        <p:nvCxnSpPr>
          <p:cNvPr id="1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28875" y="2257425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  <a:headEnd type="arrow" w="med" len="med"/>
          </a:ln>
        </p:spPr>
      </p:cxnSp>
      <p:cxnSp>
        <p:nvCxnSpPr>
          <p:cNvPr id="1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105400" y="225742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1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600950" y="1514475"/>
            <a:ext cx="876300" cy="742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563EB"/>
            </a:solidFill>
            <a:prstDash val="solid"/>
            <a:headEnd type="arrow" w="med" len="med"/>
          </a:ln>
        </p:spPr>
      </p:cxnSp>
      <p:cxnSp>
        <p:nvCxnSpPr>
          <p:cNvPr id="17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600950" y="2257425"/>
            <a:ext cx="876300" cy="209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D28D9"/>
            </a:solidFill>
            <a:prstDash val="solid"/>
            <a:headEnd type="arrow" w="med" len="med"/>
          </a:ln>
        </p:spPr>
      </p:cxnSp>
      <p:cxnSp>
        <p:nvCxnSpPr>
          <p:cNvPr id="18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600950" y="2257425"/>
            <a:ext cx="876300" cy="1162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803D"/>
            </a:solidFill>
            <a:prstDash val="solid"/>
            <a:headEnd type="arrow" w="med" len="med"/>
          </a:ln>
        </p:spPr>
      </p:cxnSp>
      <p:cxnSp>
        <p:nvCxnSpPr>
          <p:cNvPr id="19" name=""/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696075" y="2628900"/>
            <a:ext cx="180975" cy="1676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59E0B"/>
            </a:solidFill>
            <a:prstDash val="solid"/>
            <a:headEnd type="arrow" w="med" len="med"/>
          </a:ln>
        </p:spPr>
      </p:cxnSp>
      <p:cxnSp>
        <p:nvCxnSpPr>
          <p:cNvPr id="20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962900" y="46672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9E0B"/>
            </a:solidFill>
            <a:prstDash val="solid"/>
            <a:head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C9B82F-B7ED-45BD-9C90-1D98C092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3905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B32FA6-4399-4CB7-860A-EFB10998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3562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How calls are made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6190F4-7945-44F1-BFBD-457EFC4F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Frontend sends temporary X-LLM-* headers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Backend selects provider at request time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OpenAI/Anthropic keys are not persisted server-side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52D2F9-E608-4338-8C9C-3FC95987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38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E210BD-60AC-4113-A832-5DFAF1BF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03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Important interview distinction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481897-A043-4FAC-8C3B-AE660550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24550"/>
            <a:ext cx="10039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The project does not give agents arbitrary tools. It uses bounded provider calls plus deterministic validation, scoring, state transitions, and trace logging.</a:t>
            </a:r>
          </a:p>
        </p:txBody>
      </p:sp>
    </p:spTree>
    <p:extLst>
      <p:ext uri="{BB962C8B-B14F-4D97-AF65-F5344CB8AC3E}">
        <p14:creationId xmlns:p14="http://schemas.microsoft.com/office/powerpoint/2010/main" val="18211293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6A2C69-4923-4903-9CCC-83F9E046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12486-4C29-4C6A-AB5B-67F5046E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STATE AND OBSERVABILITY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7AF0D-2917-45C2-A5F5-B6247776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NegotiationState is the operational record of the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7B86F-59EC-4769-94A6-ADEA0C76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67A"/>
                </a:solidFill>
                <a:latin typeface="Aptos"/>
                <a:ea typeface="Aptos"/>
                <a:cs typeface="Aptos"/>
              </a:rPr>
              <a:t>Every agent turn updates state and produces trace events that explain what happened.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C812A-07A1-447C-B23E-5F910112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857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15E59"/>
          </a:solidFill>
          <a:ln xmlns:a="http://schemas.openxmlformats.org/drawingml/2006/main" w="9525">
            <a:solidFill>
              <a:srgbClr val="115E5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Interview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98D9C-118A-4C4A-A9FC-4D0F1F53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952750" cy="3286125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NegotiationState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negotiation_id</a:t>
            </a:r>
          </a:p>
          <a:p xmlns:a="http://schemas.openxmlformats.org/drawingml/2006/main">
            <a:pPr algn="ctr">
              <a:defRPr sz="1200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status</a:t>
            </a:r>
          </a:p>
          <a:p xmlns:a="http://schemas.openxmlformats.org/drawingml/2006/main">
            <a:pPr algn="ctr">
              <a:defRPr sz="1200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config</a:t>
            </a:r>
          </a:p>
          <a:p xmlns:a="http://schemas.openxmlformats.org/drawingml/2006/main">
            <a:pPr algn="ctr">
              <a:defRPr sz="1200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current_round</a:t>
            </a:r>
          </a:p>
          <a:p xmlns:a="http://schemas.openxmlformats.org/drawingml/2006/main">
            <a:pPr algn="ctr">
              <a:defRPr sz="1200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latest_offer</a:t>
            </a:r>
          </a:p>
          <a:p xmlns:a="http://schemas.openxmlformats.org/drawingml/2006/main">
            <a:pPr algn="ctr">
              <a:defRPr sz="1200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transcript[]</a:t>
            </a:r>
          </a:p>
          <a:p xmlns:a="http://schemas.openxmlformats.org/drawingml/2006/main">
            <a:pPr algn="ctr">
              <a:defRPr sz="1200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utility_history[]</a:t>
            </a:r>
          </a:p>
          <a:p xmlns:a="http://schemas.openxmlformats.org/drawingml/2006/main">
            <a:pPr algn="ctr">
              <a:defRPr sz="1200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trace[]</a:t>
            </a:r>
          </a:p>
          <a:p xmlns:a="http://schemas.openxmlformats.org/drawingml/2006/main">
            <a:pPr algn="ctr">
              <a:defRPr sz="1200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provider_info</a:t>
            </a:r>
          </a:p>
          <a:p xmlns:a="http://schemas.openxmlformats.org/drawingml/2006/main">
            <a:pPr algn="ctr">
              <a:defRPr sz="1200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outcome_summary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50B69-2493-435F-99B3-E1C9458D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428750"/>
            <a:ext cx="2952750" cy="3286125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Trace lifecycle per turn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Agent called</a:t>
            </a:r>
          </a:p>
          <a:p xmlns:a="http://schemas.openxmlformats.org/drawingml/2006/main">
            <a:pPr algn="ctr"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Provider selected</a:t>
            </a:r>
          </a:p>
          <a:p xmlns:a="http://schemas.openxmlformats.org/drawingml/2006/main">
            <a:pPr algn="ctr"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Raw response received</a:t>
            </a:r>
          </a:p>
          <a:p xmlns:a="http://schemas.openxmlformats.org/drawingml/2006/main">
            <a:pPr algn="ctr"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Structured response parsed</a:t>
            </a:r>
          </a:p>
          <a:p xmlns:a="http://schemas.openxmlformats.org/drawingml/2006/main">
            <a:pPr algn="ctr"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Schema validation passed/failed</a:t>
            </a:r>
          </a:p>
          <a:p xmlns:a="http://schemas.openxmlformats.org/drawingml/2006/main">
            <a:pPr algn="ctr"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Offer evaluated</a:t>
            </a:r>
          </a:p>
          <a:p xmlns:a="http://schemas.openxmlformats.org/drawingml/2006/main">
            <a:pPr algn="ctr"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Utility scores updated</a:t>
            </a:r>
          </a:p>
          <a:p xmlns:a="http://schemas.openxmlformats.org/drawingml/2006/main">
            <a:pPr algn="ctr"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Termination checked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BD3ED-2F85-477D-8CF2-31593A30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667000" cy="3286125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Terminal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accepted</a:t>
            </a:r>
          </a:p>
          <a:p xmlns:a="http://schemas.openxmlformats.org/drawingml/2006/main">
            <a:pPr algn="ctr">
              <a:defRPr sz="11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failed</a:t>
            </a:r>
          </a:p>
          <a:p xmlns:a="http://schemas.openxmlformats.org/drawingml/2006/main">
            <a:pPr algn="ctr">
              <a:defRPr sz="11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deadlocked</a:t>
            </a:r>
          </a:p>
          <a:p xmlns:a="http://schemas.openxmlformats.org/drawingml/2006/main">
            <a:pPr algn="ctr">
              <a:defRPr sz="11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walked_away</a:t>
            </a:r>
          </a:p>
          <a:p xmlns:a="http://schemas.openxmlformats.org/drawingml/2006/main">
            <a:pPr algn="ctr">
              <a:defRPr sz="11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max_rounds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Failure demos</a:t>
            </a:r>
          </a:p>
          <a:p xmlns:a="http://schemas.openxmlformats.org/drawingml/2006/main">
            <a:pPr algn="ctr">
              <a:defRPr sz="11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malformed_json</a:t>
            </a:r>
          </a:p>
          <a:p xmlns:a="http://schemas.openxmlformats.org/drawingml/2006/main">
            <a:pPr algn="ctr">
              <a:defRPr sz="11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invalid_offer</a:t>
            </a:r>
          </a:p>
          <a:p xmlns:a="http://schemas.openxmlformats.org/drawingml/2006/main">
            <a:pPr algn="ctr">
              <a:defRPr sz="11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premature_walkaway</a:t>
            </a:r>
          </a:p>
          <a:p xmlns:a="http://schemas.openxmlformats.org/drawingml/2006/main">
            <a:pPr algn="ctr">
              <a:defRPr sz="11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deadlock_bias</a:t>
            </a:r>
          </a:p>
        </p:txBody>
      </p:sp>
      <p:cxnSp>
        <p:nvCxnSpPr>
          <p:cNvPr id="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19500" y="3071813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1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72375" y="3071813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  <a:head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5F928-BAA2-4B9C-B277-BC4B258D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3143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88EA2-5DB1-463F-87C8-03CAF88C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5E5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5E59"/>
                </a:solidFill>
                <a:latin typeface="Aptos"/>
                <a:ea typeface="Aptos"/>
                <a:cs typeface="Aptos"/>
              </a:rPr>
              <a:t>What the interviewer should hear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05B57-FE3D-4DB8-89A7-19D983C7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28003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State is explicit and serializable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Evaluation is deterministic and testable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2A3F9-B29B-482D-A146-F2F673C7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24450"/>
            <a:ext cx="3143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A1A129-0C21-4EE0-9FB4-6228FAF5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25780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Why this is ops-ready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DD1BDA-8FC0-4F92-8747-A351BC2F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543550"/>
            <a:ext cx="28003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Trace tells you where failure occurred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Mock mode makes regressions reproducible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74C320-F456-4B09-857D-51A6DE32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24450"/>
            <a:ext cx="3143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9393DC-D273-4E30-9934-1FA8A572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5780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Next platform step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9068AB-EA65-4E98-A6A4-146D03CA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543550"/>
            <a:ext cx="28003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Persist state in SQLite/Postgres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Add latency, cost, retries, model comparison</a:t>
            </a:r>
          </a:p>
        </p:txBody>
      </p:sp>
    </p:spTree>
    <p:extLst>
      <p:ext uri="{BB962C8B-B14F-4D97-AF65-F5344CB8AC3E}">
        <p14:creationId xmlns:p14="http://schemas.microsoft.com/office/powerpoint/2010/main" val="13586631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2026-06-07T18:20:19.1580000Z</dcterms:created>
  <dcterms:modified xsi:type="dcterms:W3CDTF">2026-06-07T18:20:19.1580000Z</dcterms:modified>
</coreProperties>
</file>